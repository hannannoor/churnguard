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E9EBEF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E9EBEF"/>
                </a:solidFill>
                <a:latin typeface="Calibri"/>
              </a:rPr>
              <a:t>Churn recall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recall</c:v>
                </c:pt>
              </c:strCache>
            </c:strRef>
          </c:tx>
          <c:spPr>
            <a:solidFill>
              <a:srgbClr val="6C6FF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9EBE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</c:v>
                  </c:pt>
                  <c:pt idx="4">
                    <c:v>Logistic Reg.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46</c:v>
                </c:pt>
                <c:pt idx="2">
                  <c:v>49</c:v>
                </c:pt>
                <c:pt idx="3">
                  <c:v>50</c:v>
                </c:pt>
                <c:pt idx="4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9EBE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A1A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(~5s). Project name + the one-line promise: know who is leaving while you can still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(~20s): lead with the money. Churn is expensive and it is invisible until the customer has already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(~20s): name, source, size. Mildly imbalanced (26.5%), real account data, and every field maps to something the business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(~30s): a clean CRISP-DM flow. Four models including two ensembles, all tuned with RandomizedSearchCV, and we deliberately chose the simple, explainable winner.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(~25s): about half the churners caught versus zero for a naive model, at 0.79 weighted F1. Then name the drivers; they match business intuition, which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(~35s): walk the screenshot. Pick a customer, the score updates live, the cards explain WHY, and the retention levers say what to do about it. It is deployed and usable by non-technical staff. Screenshots here for timing; live tab open as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(~25s): the value is not the number itself; it is early warning, targeted spend, and an explanation the business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(~20s): restate the value in one breath, give two or three next steps, land the closing line. Stop before 3:00.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References. Not counted in the 10-slide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087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71C2A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66420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CAI2C08  · 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leaving, while you can still act.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telecom customer churn to power smarter, cheaper retention.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Hannan Noor  ·  [Student ID]  ·  [Class]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Developers  ·  Temasek Polytechnic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leave silently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Telecoms lose roughly one in four customers every year.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 new customer costs about five times more than keeping one, so every cancellation hits revenue hard.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you usually only find out a customer is unhappy after they have already cancelled, when it is too late to act.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2240280" cy="1600200"/>
          </a:xfrm>
          <a:prstGeom prst="roundRect">
            <a:avLst>
              <a:gd name="adj" fmla="val 571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160270"/>
            <a:ext cx="2240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242048" y="2976372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 to win a new customer than keep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464040" y="1920240"/>
            <a:ext cx="2240280" cy="1600200"/>
          </a:xfrm>
          <a:prstGeom prst="roundRect">
            <a:avLst>
              <a:gd name="adj" fmla="val 571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64040" y="2160270"/>
            <a:ext cx="2240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665208" y="2976372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churn every year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07492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could see churn coming, we could act before it happens. That is the whole idea behind ChurnGuard.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telecom customer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Churn: a public IBM sample dataset (via Kaggle) of real telecom customer accounts.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46070"/>
            <a:ext cx="3383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366217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(rows)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26060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846070"/>
            <a:ext cx="3383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27448" y="366217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6060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846070"/>
            <a:ext cx="3383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13648" y="366217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(the target)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09160"/>
            <a:ext cx="10268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are exactly what a provider already knows about a customer: contract type, tenure, services, and charges, so every prediction points to an action the business can actually take.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chosen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103120" cy="2057400"/>
          </a:xfrm>
          <a:prstGeom prst="roundRect">
            <a:avLst>
              <a:gd name="adj" fmla="val 444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2395728"/>
            <a:ext cx="768096" cy="768096"/>
          </a:xfrm>
          <a:prstGeom prst="ellipse">
            <a:avLst/>
          </a:prstGeom>
          <a:solidFill>
            <a:srgbClr val="6C6FF0"/>
          </a:solidFill>
          <a:ln/>
        </p:spPr>
      </p:sp>
      <p:sp>
        <p:nvSpPr>
          <p:cNvPr id="6" name="Text 4"/>
          <p:cNvSpPr/>
          <p:nvPr/>
        </p:nvSpPr>
        <p:spPr>
          <a:xfrm>
            <a:off x="1307592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churn drivers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43784" y="2148840"/>
            <a:ext cx="2103120" cy="2057400"/>
          </a:xfrm>
          <a:prstGeom prst="roundRect">
            <a:avLst>
              <a:gd name="adj" fmla="val 444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395728"/>
            <a:ext cx="768096" cy="768096"/>
          </a:xfrm>
          <a:prstGeom prst="ellipse">
            <a:avLst/>
          </a:prstGeom>
          <a:solidFill>
            <a:srgbClr val="6C6FF0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35224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0944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band, service count, avg spend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2148840"/>
            <a:ext cx="2103120" cy="2057400"/>
          </a:xfrm>
          <a:prstGeom prst="roundRect">
            <a:avLst>
              <a:gd name="adj" fmla="val 444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2395728"/>
            <a:ext cx="768096" cy="768096"/>
          </a:xfrm>
          <a:prstGeom prst="ellipse">
            <a:avLst/>
          </a:prstGeom>
          <a:solidFill>
            <a:srgbClr val="6C6FF0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38928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4648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+ 4 ML models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51192" y="2148840"/>
            <a:ext cx="2103120" cy="2057400"/>
          </a:xfrm>
          <a:prstGeom prst="roundRect">
            <a:avLst>
              <a:gd name="adj" fmla="val 444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8704" y="2395728"/>
            <a:ext cx="768096" cy="768096"/>
          </a:xfrm>
          <a:prstGeom prst="ellipse">
            <a:avLst/>
          </a:prstGeom>
          <a:solidFill>
            <a:srgbClr val="6C6FF0"/>
          </a:solidFill>
          <a:ln/>
        </p:spPr>
      </p:sp>
      <p:sp>
        <p:nvSpPr>
          <p:cNvPr id="21" name="Text 19"/>
          <p:cNvSpPr/>
          <p:nvPr/>
        </p:nvSpPr>
        <p:spPr>
          <a:xfrm>
            <a:off x="7918704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42632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88352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54896" y="2148840"/>
            <a:ext cx="2103120" cy="2057400"/>
          </a:xfrm>
          <a:prstGeom prst="roundRect">
            <a:avLst>
              <a:gd name="adj" fmla="val 4444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2408" y="2395728"/>
            <a:ext cx="768096" cy="768096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26" name="Text 24"/>
          <p:cNvSpPr/>
          <p:nvPr/>
        </p:nvSpPr>
        <p:spPr>
          <a:xfrm>
            <a:off x="10122408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546336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92056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892040"/>
            <a:ext cx="10268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metric: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to handle the class imbalance, with churn recall as the business number, because we care most about catching the customers who will actually leave.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churners caught, from zero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888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2688336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158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41248" y="4215384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churners caught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837176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429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1248" y="5742432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a naive baseline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178308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3703320" y="1874520"/>
          <a:ext cx="7955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3566160" y="5349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5349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drivers:  </a:t>
            </a:r>
            <a:pPr indent="0" marL="0">
              <a:buNone/>
            </a:pPr>
            <a:r>
              <a:rPr lang="en-US" sz="15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contract, low tenure, fibre-optic internet, and electronic-check payment.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ChurnGuard, live in the browser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090B10"/>
          </a:solidFill>
          <a:ln w="12700">
            <a:solidFill>
              <a:srgbClr val="2A303D"/>
            </a:solidFill>
            <a:prstDash val="solid"/>
          </a:ln>
        </p:spPr>
      </p:sp>
      <p:pic>
        <p:nvPicPr>
          <p:cNvPr id="5" name="Image 0" descr="app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6232"/>
            <a:ext cx="5212080" cy="4105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920240"/>
            <a:ext cx="100584" cy="100584"/>
          </a:xfrm>
          <a:prstGeom prst="ellipse">
            <a:avLst/>
          </a:prstGeom>
          <a:solidFill>
            <a:srgbClr val="8B8FF7"/>
          </a:solidFill>
          <a:ln/>
        </p:spPr>
      </p:sp>
      <p:sp>
        <p:nvSpPr>
          <p:cNvPr id="7" name="Text 4"/>
          <p:cNvSpPr/>
          <p:nvPr/>
        </p:nvSpPr>
        <p:spPr>
          <a:xfrm>
            <a:off x="6647688" y="1837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live as you edit: the churn probability updates on every change, nothing to submit.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score: revenue at risk, how the customer compares to the base rate, and their tenure band.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retention levers: the actions that remove the most risk, like moving to a two-year contract.</a:t>
            </a:r>
            <a:endParaRPr lang="en-US" sz="15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and deployed to the cloud, so any non-technical staff member can use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544068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71C2A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54406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</a:t>
            </a:r>
            <a:pPr indent="0" marL="0">
              <a:buNone/>
            </a:pPr>
            <a:r>
              <a:rPr lang="en-US" sz="12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hannan-noor-repo-urnb4gmsdju7kjo5dz585d.streamlit.app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score into a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84448" cy="3200400"/>
          </a:xfrm>
          <a:prstGeom prst="roundRect">
            <a:avLst>
              <a:gd name="adj" fmla="val 285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77440"/>
            <a:ext cx="658368" cy="658368"/>
          </a:xfrm>
          <a:prstGeom prst="ellipse">
            <a:avLst/>
          </a:prstGeom>
          <a:solidFill>
            <a:srgbClr val="8B8F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9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early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at-risk customers before they cancel, not in the exit survey afterwards.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2011680"/>
            <a:ext cx="3584448" cy="3200400"/>
          </a:xfrm>
          <a:prstGeom prst="roundRect">
            <a:avLst>
              <a:gd name="adj" fmla="val 285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377440"/>
            <a:ext cx="658368" cy="6583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9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32461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spend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92040" y="3749040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offers on the customers who actually need them, protecting revenue instead of wasting 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0" y="2011680"/>
            <a:ext cx="3584448" cy="3200400"/>
          </a:xfrm>
          <a:prstGeom prst="roundRect">
            <a:avLst>
              <a:gd name="adj" fmla="val 2857"/>
            </a:avLst>
          </a:prstGeom>
          <a:solidFill>
            <a:srgbClr val="161A2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2377440"/>
            <a:ext cx="658368" cy="658368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9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78240" y="32461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churn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778240" y="3749040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what drives churn, so the business can fix root causes: contracts, onboarding, billing.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00584" cy="100584"/>
          </a:xfrm>
          <a:prstGeom prst="ellipse">
            <a:avLst/>
          </a:prstGeom>
          <a:solidFill>
            <a:srgbClr val="8B8FF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740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explainable, deployed tool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raw account data into a ranked retention action list: the score, the reason, and the next move.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 to the retention team’s real capacity.</a:t>
            </a:r>
            <a:endParaRPr lang="en-US" sz="18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dollar costs to weigh false alarms against missed churners.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live data and track results as retention offers go out.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run, cheap to deploy, and it explains itself. That is why it is worth using.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BlastChar. (2018). Telco customer churn [Data set]. Kaggle. https://www.kaggle.com/datasets/blastchar/telco-customer-churn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 Journal of Machine Learning Research, 12, 2825-2830.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Harris, C. R., et al. (2020). Array programming with NumPy. Nature, 585, 357-362.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McKinney, W. (2010). Data structures for statistical computing in Python. Proceedings of the 9th Python in Science Conference, 56-61.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Hunter, J. D. (2007). Matplotlib: A 2D graphics environment. Computing in Science &amp; Engineering, 9(3), 90-95.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Inc. (2019). Streamlit: A faster way to build and share data apps [Computer software]. https://streamlit.io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B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(2026). Claude [Large language model]. https://claude.ai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ChurnGuard</dc:title>
  <dc:subject>PptxGenJS Presentation</dc:subject>
  <dc:creator>Hannan Noor</dc:creator>
  <cp:lastModifiedBy>Hannan Noor</cp:lastModifiedBy>
  <cp:revision>1</cp:revision>
  <dcterms:created xsi:type="dcterms:W3CDTF">2026-08-15T08:41:09Z</dcterms:created>
  <dcterms:modified xsi:type="dcterms:W3CDTF">2026-08-15T08:41:09Z</dcterms:modified>
</cp:coreProperties>
</file>